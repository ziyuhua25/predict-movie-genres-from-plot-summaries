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87db7c4f5c41d1" /><Relationship Type="http://schemas.openxmlformats.org/officeDocument/2006/relationships/extended-properties" Target="/docProps/app.xml" Id="R4ce0833e0ec24fba" /><Relationship Type="http://schemas.openxmlformats.org/officeDocument/2006/relationships/officeDocument" Target="/ppt/presentation.xml" Id="R1aef9e24a7af4e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10e0d9136d463a"/>
  </p:sldMasterIdLst>
  <p:notesMasterIdLst>
    <p:notesMasterId xmlns:r="http://schemas.openxmlformats.org/officeDocument/2006/relationships" r:id="R3d4d28caaae547db"/>
  </p:notesMasterIdLst>
  <p:sldIdLst>
    <p:sldId xmlns:r="http://schemas.openxmlformats.org/officeDocument/2006/relationships" id="256" r:id="R644511189e3341c3"/>
    <p:sldId xmlns:r="http://schemas.openxmlformats.org/officeDocument/2006/relationships" id="257" r:id="R3121e3de8bfb40dd"/>
    <p:sldId xmlns:r="http://schemas.openxmlformats.org/officeDocument/2006/relationships" id="258" r:id="R653e4f5d81c14142"/>
    <p:sldId xmlns:r="http://schemas.openxmlformats.org/officeDocument/2006/relationships" id="259" r:id="R8e9383013a8e49f2"/>
    <p:sldId xmlns:r="http://schemas.openxmlformats.org/officeDocument/2006/relationships" id="260" r:id="R5700ef8b07d540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3720bd39354360" /><Relationship Type="http://schemas.openxmlformats.org/officeDocument/2006/relationships/slideMaster" Target="/ppt/slideMasters/slideMaster1.xml" Id="Rab10e0d9136d463a" /><Relationship Type="http://schemas.openxmlformats.org/officeDocument/2006/relationships/notesMaster" Target="/ppt/notesMasters/notesMaster1.xml" Id="R3d4d28caaae547db" /><Relationship Type="http://schemas.openxmlformats.org/officeDocument/2006/relationships/presProps" Target="/ppt/presProps.xml" Id="Red707b13459547ec" /><Relationship Type="http://schemas.openxmlformats.org/officeDocument/2006/relationships/tableStyles" Target="/ppt/tableStyles.xml" Id="Ra7470bff35b047e9" /><Relationship Type="http://schemas.openxmlformats.org/officeDocument/2006/relationships/slide" Target="/ppt/slides/slide1.xml" Id="R644511189e3341c3" /><Relationship Type="http://schemas.openxmlformats.org/officeDocument/2006/relationships/slide" Target="/ppt/slides/slide2.xml" Id="R3121e3de8bfb40dd" /><Relationship Type="http://schemas.openxmlformats.org/officeDocument/2006/relationships/slide" Target="/ppt/slides/slide3.xml" Id="R653e4f5d81c14142" /><Relationship Type="http://schemas.openxmlformats.org/officeDocument/2006/relationships/slide" Target="/ppt/slides/slide4.xml" Id="R8e9383013a8e49f2" /><Relationship Type="http://schemas.openxmlformats.org/officeDocument/2006/relationships/slide" Target="/ppt/slides/slide5.xml" Id="R5700ef8b07d540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866010d22848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568fbdb0b64aee" /><Relationship Type="http://schemas.openxmlformats.org/officeDocument/2006/relationships/notesMaster" Target="/ppt/notesMasters/notesMaster1.xml" Id="Rfc5189415b8f49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e539e01b6f437c" /><Relationship Type="http://schemas.openxmlformats.org/officeDocument/2006/relationships/notesMaster" Target="/ppt/notesMasters/notesMaster1.xml" Id="R846c6635fd7b46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98b69370e94777" /><Relationship Type="http://schemas.openxmlformats.org/officeDocument/2006/relationships/notesMaster" Target="/ppt/notesMasters/notesMaster1.xml" Id="Rc548c9a4cab54d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2d3ca463e2436f" /><Relationship Type="http://schemas.openxmlformats.org/officeDocument/2006/relationships/notesMaster" Target="/ppt/notesMasters/notesMaster1.xml" Id="Raf260e1316ee48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aab6e4117a4cc7" /><Relationship Type="http://schemas.openxmlformats.org/officeDocument/2006/relationships/notesMaster" Target="/ppt/notesMasters/notesMaster1.xml" Id="R76d9be18945f47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Building on the lexical baseline in the previous section, I tested whether a sentence-level encoder can capture broader narrative meaning.</a:t>
            </a:r>
          </a:p>
          <a:p xmlns:a="http://schemas.openxmlformats.org/drawingml/2006/main">
            <a:r>
              <a:t>Standard BERT produces contextual token representations. Sentence-BERT is designed to produce one reusable vector for a whole sentence or paragraph, so it is a practical fit for plot summaries.</a:t>
            </a:r>
          </a:p>
          <a:p xmlns:a="http://schemas.openxmlformats.org/drawingml/2006/main">
            <a:r>
              <a:t>The example on the right shows the intuition: detective and murder versus police officer and killing use different words but express similar meaning.</a:t>
            </a:r>
          </a:p>
          <a:p xmlns:a="http://schemas.openxmlformats.org/drawingml/2006/main">
            <a:r>
              <a:t>However, genre classification is harder than semantic similarity because a plot topic is not always the same as its genre or 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 conversation: “Modern BERT Model Development” — SBERT motivation and semantic-similarity example</a:t>
            </a:r>
          </a:p>
          <a:p xmlns:a="http://schemas.openxmlformats.org/drawingml/2006/main">
            <a:r>
              <a:t>- Team repository: origin/member3-sbert — research/notebooks/03_sbert_sanity_check.ipynb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experiment fixes the dataset split and classifier design so that the representation itself is the main variable.</a:t>
            </a:r>
          </a:p>
          <a:p xmlns:a="http://schemas.openxmlformats.org/drawingml/2006/main">
            <a:r>
              <a:t>We normalize whitespace, encode each plot with all-MiniLM-L6-v2, and train eighteen one-versus-rest logistic regression classifiers.</a:t>
            </a:r>
          </a:p>
          <a:p xmlns:a="http://schemas.openxmlformats.org/drawingml/2006/main">
            <a:r>
              <a:t>The probability example explains why a threshold of 0.5 is not automatically correct for a multi-label task. A plausible label such as Comedy can be lost even when its score is meaningful.</a:t>
            </a:r>
          </a:p>
          <a:p xmlns:a="http://schemas.openxmlformats.org/drawingml/2006/main">
            <a:r>
              <a:t>We therefore select one global threshold on the validation set and then lock it before evaluating the test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repository: origin/member3-sbert — research/src/train_sbert.py</a:t>
            </a:r>
          </a:p>
          <a:p xmlns:a="http://schemas.openxmlformats.org/drawingml/2006/main">
            <a:r>
              <a:t>- Team repository: origin/member3-sbert — research/notebooks/04_sbert_official_experiment.ipynb</a:t>
            </a:r>
          </a:p>
          <a:p xmlns:a="http://schemas.openxmlformats.org/drawingml/2006/main">
            <a:r>
              <a:t>- ChatGPT conversation: “Modern BERT Model Development” — threshold illustration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main quantitative result is that threshold selection has a large effect. On the official validation split, Macro-F1 rises from 0.442 at the default threshold to 0.552 at the selected threshold of 0.25.</a:t>
            </a:r>
          </a:p>
          <a:p xmlns:a="http://schemas.openxmlformats.org/drawingml/2006/main">
            <a:r>
              <a:t>After locking that threshold, the model reaches a test Macro-F1 of 0.548 and a Micro-F1 of 0.624.</a:t>
            </a:r>
          </a:p>
          <a:p xmlns:a="http://schemas.openxmlformats.org/drawingml/2006/main">
            <a:r>
              <a:t>The validation-to-test change is very small, so the model provides a stable semantic baseline.</a:t>
            </a:r>
          </a:p>
          <a:p xmlns:a="http://schemas.openxmlformats.org/drawingml/2006/main">
            <a:r>
              <a:t>Micro-F1 remains higher than Macro-F1, which indicates that frequent genres are easier and rare genres remain the main weakness.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repository: origin/member3-sbert — research/notebooks/04_sbert_official_experiment.ipynb</a:t>
            </a:r>
          </a:p>
          <a:p xmlns:a="http://schemas.openxmlformats.org/drawingml/2006/main">
            <a:r>
              <a:t>- Artifact: sbert_original_predictions.csv — 21,564 rows × 8 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two exact-match cases show two different types of success.</a:t>
            </a:r>
          </a:p>
          <a:p xmlns:a="http://schemas.openxmlformats.org/drawingml/2006/main">
            <a:r>
              <a:t>For Next Goal Wins, the overview describes an underdog transformation and victory. The model predicts Comedy and Drama even though the plot does not simply state those genre names.</a:t>
            </a:r>
          </a:p>
          <a:p xmlns:a="http://schemas.openxmlformats.org/drawingml/2006/main">
            <a:r>
              <a:t>For Labyrinth, the rescue quest, family relationship, and fantasy setting all align with the labels Adventure, Family, and Fantasy.</a:t>
            </a:r>
          </a:p>
          <a:p xmlns:a="http://schemas.openxmlformats.org/drawingml/2006/main">
            <a:r>
              <a:t>The broader point is that semantic representations work best when the overall narrative and the lexical cues reinforce each other.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repository: origin/member3-sbert — research/notebooks/03_sbert_sanity_check.ipynb</a:t>
            </a:r>
          </a:p>
          <a:p xmlns:a="http://schemas.openxmlformats.org/drawingml/2006/main">
            <a:r>
              <a:t>- ChatGPT conversation: “Modern BERT Model Development” — recommended success cases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cases reveal the most important mechanism-level limitation.</a:t>
            </a:r>
          </a:p>
          <a:p xmlns:a="http://schemas.openxmlformats.org/drawingml/2006/main">
            <a:r>
              <a:t>History of the World is about historical events, so the model predicts History, but the actual genre is Comedy. Topic semantics are not genre semantics.</a:t>
            </a:r>
          </a:p>
          <a:p xmlns:a="http://schemas.openxmlformats.org/drawingml/2006/main">
            <a:r>
              <a:t>We're No Angels contains convicts, escape, police, and a border blockade, so the model predicts Action and Thriller. It identifies what happens but misses the comic tone.</a:t>
            </a:r>
          </a:p>
          <a:p xmlns:a="http://schemas.openxmlformats.org/drawingml/2006/main">
            <a:r>
              <a:t>Brahms: The Boy II provides almost no explicit horror evidence in the short overview. An embedding cannot recover genre cues that are absent from the input.</a:t>
            </a:r>
          </a:p>
          <a:p xmlns:a="http://schemas.openxmlformats.org/drawingml/2006/main">
            <a:r>
              <a:t>Therefore, our current conclusion is conservative: SBERT is a stable semantic baseline, but perturbation experiments are still needed to determine whether it truly relies on compositional meaning rather than lexical associations.</a:t>
            </a:r>
          </a:p>
          <a:p xmlns:a="http://schemas.openxmlformats.org/drawingml/2006/main">
            <a:r>
              <a:t>This leads directly into the next section on robustness and perturbation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repository: origin/member3-sbert — research/notebooks/03_sbert_sanity_check.ipynb</a:t>
            </a:r>
          </a:p>
          <a:p xmlns:a="http://schemas.openxmlformats.org/drawingml/2006/main">
            <a:r>
              <a:t>- ChatGPT conversation: “Modern BERT Model Development” — topic-versus-genre, event-versus-tone, and missing-cue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f107d59bc4c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afd436a71e4d07" /><Relationship Type="http://schemas.openxmlformats.org/officeDocument/2006/relationships/slideLayout" Target="/ppt/slideLayouts/slideLayout1.xml" Id="Rd12f7e48c29d4b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2f7e48c29d4b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13d28925e4206" /><Relationship Type="http://schemas.openxmlformats.org/officeDocument/2006/relationships/notesSlide" Target="/ppt/notesSlides/notesSlide1.xml" Id="R48ba706bdddd49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213ca56e44b2e" /><Relationship Type="http://schemas.openxmlformats.org/officeDocument/2006/relationships/notesSlide" Target="/ppt/notesSlides/notesSlide2.xml" Id="R31552caa7e9141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9c91b6f634238" /><Relationship Type="http://schemas.openxmlformats.org/officeDocument/2006/relationships/chart" Target="/ppt/slides/charts/chart1.xml" Id="R13ee678e5e764ddb" /><Relationship Type="http://schemas.openxmlformats.org/officeDocument/2006/relationships/notesSlide" Target="/ppt/notesSlides/notesSlide3.xml" Id="Re6a520b606c643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78d9e55234666" /><Relationship Type="http://schemas.openxmlformats.org/officeDocument/2006/relationships/notesSlide" Target="/ppt/notesSlides/notesSlide4.xml" Id="R833b6b082a5d49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726fce8b0494f" /><Relationship Type="http://schemas.openxmlformats.org/officeDocument/2006/relationships/notesSlide" Target="/ppt/notesSlides/notesSlide5.xml" Id="R20c56c9afae84aa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Macro-F1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Default
threshold 0.50</c:v>
              </c:pt>
              <c:pt idx="1">
                <c:v>Tuned
threshold 0.25</c:v>
              </c:pt>
            </c:strLit>
          </c:cat>
          <c:val>
            <c:numLit>
              <c:formatCode>0.000</c:formatCode>
              <c:ptCount val="2"/>
              <c:pt idx="0">
                <c:v>0.441921</c:v>
              </c:pt>
              <c:pt idx="1">
                <c:v>0.551871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113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31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470"/>
                </a:solidFill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3F5F7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3F5F7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E807AB-E1CF-4BB0-A2A1-C0FA58C1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</a:defRPr>
            </a:pPr>
            <a:r>
              <a:rPr sz="900" b="1" i="0">
                <a:solidFill>
                  <a:srgbClr val="3D8DFF"/>
                </a:solidFill>
              </a:rPr>
              <a:t>03.1 · FROM LEXICAL CUES TO SEMANTIC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A6464-1F78-4E91-8609-9982D5BD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</a:defRPr>
            </a:pPr>
            <a:r>
              <a:rPr sz="2550" b="1" i="0">
                <a:solidFill>
                  <a:srgbClr val="111318"/>
                </a:solidFill>
              </a:rPr>
              <a:t>Why use a sentence-level encoder?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5D685-EC73-4F3A-97B8-60B4FC6E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086B7-23D6-4251-9043-E37A37E0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0E548-C7FD-4525-AFD0-F5B12D7B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470"/>
                </a:solidFill>
              </a:defRPr>
            </a:pPr>
            <a:r>
              <a:rPr sz="825" b="1" i="0">
                <a:solidFill>
                  <a:srgbClr val="5D6470"/>
                </a:solidFill>
              </a:rPr>
              <a:t>SECTION 03 · SENTENCE-BERT SEMANTIC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20A37-B53F-4B7F-A99F-F575E2E3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D6470"/>
                </a:solidFill>
              </a:defRPr>
            </a:pPr>
            <a:r>
              <a:rPr sz="825" b="1" i="0">
                <a:solidFill>
                  <a:srgbClr val="5D6470"/>
                </a:solidFill>
              </a:rPr>
              <a:t>3.1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62B19-D20E-4B75-AE99-20A656B7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</a:defRPr>
            </a:pPr>
            <a:r>
              <a:rPr sz="2100" b="1" i="0">
                <a:solidFill>
                  <a:srgbClr val="111318"/>
                </a:solidFill>
              </a:rPr>
              <a:t>BERT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DBDC1-6BE4-4830-AD4E-1FDF0E47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D6470"/>
                </a:solidFill>
              </a:defRPr>
            </a:pPr>
            <a:r>
              <a:rPr sz="1275" b="1" i="0">
                <a:solidFill>
                  <a:srgbClr val="5D6470"/>
                </a:solidFill>
              </a:rPr>
              <a:t>Contextual token representations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6A534-99D8-484D-966B-D019D52D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318"/>
                </a:solidFill>
              </a:defRPr>
            </a:pPr>
            <a:r>
              <a:rPr sz="1350" b="0" i="0">
                <a:solidFill>
                  <a:srgbClr val="111318"/>
                </a:solidFill>
              </a:rPr>
              <a:t>Useful for fine-tuning, but a full plot still needs pooling or task-specific training to become one vector.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75C05-7E17-4EFD-8B76-860C84DF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6FB6A-692D-42D2-836E-BC89A754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288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D8DFF"/>
                </a:solidFill>
              </a:defRPr>
            </a:pPr>
            <a:r>
              <a:rPr sz="2100" b="1" i="0">
                <a:solidFill>
                  <a:srgbClr val="3D8DFF"/>
                </a:solidFill>
              </a:rPr>
              <a:t>Sentence-BERT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5ECAE-6543-4DE3-AE30-89E4100F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86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D6470"/>
                </a:solidFill>
              </a:defRPr>
            </a:pPr>
            <a:r>
              <a:rPr sz="1275" b="1" i="0">
                <a:solidFill>
                  <a:srgbClr val="5D6470"/>
                </a:solidFill>
              </a:rPr>
              <a:t>One dense vector per plot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A5D87-A944-4293-8F5D-22AE4EE3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241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318"/>
                </a:solidFill>
              </a:defRPr>
            </a:pPr>
            <a:r>
              <a:rPr sz="1350" b="0" i="0">
                <a:solidFill>
                  <a:srgbClr val="111318"/>
                </a:solidFill>
              </a:rPr>
              <a:t>all-MiniLM-L6-v2 maps each overview to a 384-dimensional embedding that can be reused by a lightweight classifier.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805B4-B5B4-4842-888B-D720F04E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90700"/>
            <a:ext cx="40386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7F386-E82B-48B9-95BB-303CC92F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</a:defRPr>
            </a:pPr>
            <a:r>
              <a:rPr sz="900" b="1" i="0">
                <a:solidFill>
                  <a:srgbClr val="3D8DFF"/>
                </a:solidFill>
              </a:rPr>
              <a:t>A SMALL SEMANTIC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8632A-0475-4F16-88DA-332DBDE9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“A detective investigates a mysterious murder.”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73054-DB39-485E-BE85-B9119243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385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“A police officer tries to solve a killing.”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59FC1-0B2E-4BE0-B52D-6A6D4F53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0050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54BB1-A772-4403-80FC-3E124A5F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</a:defRPr>
            </a:pPr>
            <a:r>
              <a:rPr sz="1500" b="1" i="0">
                <a:solidFill>
                  <a:srgbClr val="3D8DFF"/>
                </a:solidFill>
              </a:rPr>
              <a:t>Different words, similar meaning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159D2-12D9-456D-96B6-27DDEF67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52950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470"/>
                </a:solidFill>
              </a:defRPr>
            </a:pPr>
            <a:r>
              <a:rPr sz="1050" b="0" i="0">
                <a:solidFill>
                  <a:srgbClr val="5D6470"/>
                </a:solidFill>
              </a:rPr>
              <a:t>The research question is whether this advantage survives genre classification, where topic and tone are not the same thing.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F8194-14D5-4BAE-B252-53B7E5A4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95DDD-CFDD-4FF2-B4C8-CBB69459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Hypothesis: sentence embeddings should capture narrative meaning beyond exact genre keywords.</a:t>
            </a:r>
          </a:p>
        </p:txBody>
      </p:sp>
    </p:spTree>
    <p:extLst>
      <p:ext uri="{BB962C8B-B14F-4D97-AF65-F5344CB8AC3E}">
        <p14:creationId xmlns:p14="http://schemas.microsoft.com/office/powerpoint/2010/main" val="23858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F7ECE0-9231-46E9-8DAD-0F9F5313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</a:defRPr>
            </a:pPr>
            <a:r>
              <a:rPr sz="900" b="1" i="0">
                <a:solidFill>
                  <a:srgbClr val="3D8DFF"/>
                </a:solidFill>
              </a:rPr>
              <a:t>03.2 · EXPERIMENTAL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86817-CFA6-49A5-838A-71AA9194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</a:defRPr>
            </a:pPr>
            <a:r>
              <a:rPr sz="2550" b="1" i="0">
                <a:solidFill>
                  <a:srgbClr val="111318"/>
                </a:solidFill>
              </a:rPr>
              <a:t>A controlled and reproducible semantic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C69B4-445E-4A37-AA19-B2AA1AE9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755B2-A437-4DED-ADDA-83DFBAE8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116AD-C78D-4C1F-8FE7-DBB4E4F6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470"/>
                </a:solidFill>
              </a:defRPr>
            </a:pPr>
            <a:r>
              <a:rPr sz="825" b="1" i="0">
                <a:solidFill>
                  <a:srgbClr val="5D6470"/>
                </a:solidFill>
              </a:rPr>
              <a:t>SECTION 03 · SENTENCE-BERT SEMANTIC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8AB8E-4177-4F81-ABEF-883CC7E4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D6470"/>
                </a:solidFill>
              </a:defRPr>
            </a:pPr>
            <a:r>
              <a:rPr sz="825" b="1" i="0">
                <a:solidFill>
                  <a:srgbClr val="5D6470"/>
                </a:solidFill>
              </a:rPr>
              <a:t>3.2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EADA0-C154-402D-8D81-003C2996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3431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CF0B7-DA66-4930-9DAD-C9282AE8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</a:defRPr>
            </a:pPr>
            <a:r>
              <a:rPr sz="1200" b="1" i="0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A9F17-E351-4AFC-A528-5743E5A5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Plot 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ED3BE-15B1-4093-A8ED-63643459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Whitespace normalization</a:t>
            </a:r>
          </a:p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No lexical deletion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6AE63-D701-4AE8-9D70-EE8286DD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36AE5-3091-4A5C-8F50-32734A4C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67000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7EA01-4BDD-40E6-80D6-C8DAA8CA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3431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8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03150-F5D9-4F1D-AEF8-087006A9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57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</a:defRPr>
            </a:pPr>
            <a:r>
              <a:rPr sz="1200" b="1" i="0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CB598-C1B4-4B56-A1D2-B63BA165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318"/>
                </a:solidFill>
              </a:defRPr>
            </a:pPr>
            <a:r>
              <a:rPr sz="1425" b="1" i="0">
                <a:solidFill>
                  <a:srgbClr val="111318"/>
                </a:solidFill>
              </a:rPr>
              <a:t>all-MiniLM-L6-v2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3E8E7-2CB1-4479-A14F-34FDB2E4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Frozen encoder</a:t>
            </a:r>
          </a:p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384-d embedding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32883-750B-44A7-B60B-FA6F2321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7BD98-B9A5-4F9F-B84E-1A1EE5EE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66759-7B0C-4746-ADD7-74AE45D1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47850"/>
            <a:ext cx="23431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7D1A4-6A0C-4380-A1E5-AB3D033A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</a:defRPr>
            </a:pPr>
            <a:r>
              <a:rPr sz="1200" b="1" i="0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13FF8-3DA7-47E0-BDE4-A28972FB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One-vs-Rest LR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7065A-86ED-4CDE-88E7-BF178D29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18 binary classifiers</a:t>
            </a:r>
          </a:p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seed = 42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029E7-E9A2-4417-BED1-A4933604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8FFF7-FBC5-4B16-94FE-3AF4A803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76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8BBD5B-EA63-4884-A13D-BB532895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47850"/>
            <a:ext cx="23431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87EB89-2D94-47EF-85B5-BEB9A71A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</a:defRPr>
            </a:pPr>
            <a:r>
              <a:rPr sz="1200" b="1" i="0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3253E-9699-40C2-8D56-E473983D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574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Threshold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F158E5-6C29-4AF8-97B0-C675EE49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718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Selected on validation</a:t>
            </a:r>
          </a:p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best = 0.25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5DD533-75F7-40BE-950E-225A402B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</a:defRPr>
            </a:pPr>
            <a:r>
              <a:rPr sz="900" b="1" i="0">
                <a:solidFill>
                  <a:srgbClr val="3D8DFF"/>
                </a:solidFill>
              </a:rPr>
              <a:t>ILLUSTRATIVE MULTI-LABEL DECISION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5C6812-63E2-4C71-ACEF-0299DC0E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Action  0.61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1923B-5D06-499E-8633-65D1C806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577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Comedy  0.43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06DDF9-6F38-4D2E-90E1-98AB3730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5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Drama  0.69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63A12F-6FD8-4E83-B225-AFC8F479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762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1D314A-FE55-45EB-A5E1-CB4F6120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D6470"/>
                </a:solidFill>
              </a:defRPr>
            </a:pPr>
            <a:r>
              <a:rPr sz="1200" b="1" i="0">
                <a:solidFill>
                  <a:srgbClr val="5D6470"/>
                </a:solidFill>
              </a:rPr>
              <a:t>At 0.50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34C9BA-1FED-4534-AFE6-3C809924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054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Action · Drama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396756-BA69-4478-93FE-DA934298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470"/>
                </a:solidFill>
              </a:defRPr>
            </a:pPr>
            <a:r>
              <a:rPr sz="1050" b="0" i="0">
                <a:solidFill>
                  <a:srgbClr val="5D6470"/>
                </a:solidFill>
              </a:rPr>
              <a:t>Comedy is missed despite a meaningful score.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F6683B-73C8-4690-A2F0-BE2923C3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53000"/>
            <a:ext cx="5867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B68410-0F02-4807-9D30-24C8A7CA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244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</a:defRPr>
            </a:pPr>
            <a:r>
              <a:rPr sz="1200" b="1" i="0">
                <a:solidFill>
                  <a:srgbClr val="3D8DFF"/>
                </a:solidFill>
              </a:rPr>
              <a:t>At 0.25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187964-B899-4E12-A187-6C2EE147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Action · Comedy · Drama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59F692-F080-46CE-9298-14956A26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4830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470"/>
                </a:solidFill>
              </a:defRPr>
            </a:pPr>
            <a:r>
              <a:rPr sz="1050" b="0" i="0">
                <a:solidFill>
                  <a:srgbClr val="5D6470"/>
                </a:solidFill>
              </a:rPr>
              <a:t>Lower threshold restores recall in an imbalanced multi-label task.</a:t>
            </a:r>
          </a:p>
        </p:txBody>
      </p:sp>
    </p:spTree>
    <p:extLst>
      <p:ext uri="{BB962C8B-B14F-4D97-AF65-F5344CB8AC3E}">
        <p14:creationId xmlns:p14="http://schemas.microsoft.com/office/powerpoint/2010/main" val="851338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240B64-4AE7-4AAF-997A-9F87648B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</a:defRPr>
            </a:pPr>
            <a:r>
              <a:rPr sz="900" b="1" i="0">
                <a:solidFill>
                  <a:srgbClr val="3D8DFF"/>
                </a:solidFill>
              </a:rPr>
              <a:t>03.3 · OFFICIAL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460AB-D146-424A-9585-B830D22D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</a:defRPr>
            </a:pPr>
            <a:r>
              <a:rPr sz="2550" b="1" i="0">
                <a:solidFill>
                  <a:srgbClr val="111318"/>
                </a:solidFill>
              </a:rPr>
              <a:t>Threshold selection matters as much as the encoder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3A53B-1154-4B17-87A2-4DCCEDC2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02557-F35F-485E-8B1F-50380088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0579E-6363-4326-AE51-2B164CE0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470"/>
                </a:solidFill>
              </a:defRPr>
            </a:pPr>
            <a:r>
              <a:rPr sz="825" b="1" i="0">
                <a:solidFill>
                  <a:srgbClr val="5D6470"/>
                </a:solidFill>
              </a:rPr>
              <a:t>SECTION 03 · SENTENCE-BERT SEMANTIC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0A977-D55F-4381-8EF9-5672DB24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D6470"/>
                </a:solidFill>
              </a:defRPr>
            </a:pPr>
            <a:r>
              <a:rPr sz="825" b="1" i="0">
                <a:solidFill>
                  <a:srgbClr val="5D6470"/>
                </a:solidFill>
              </a:rPr>
              <a:t>3.3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89DBF-C471-4621-B0DB-CE36FB4C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667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1AB78-FA54-4F83-A242-249EFD1B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470"/>
                </a:solidFill>
              </a:defRPr>
            </a:pPr>
            <a:r>
              <a:rPr sz="900" b="1" i="0">
                <a:solidFill>
                  <a:srgbClr val="5D6470"/>
                </a:solidFill>
              </a:rPr>
              <a:t>VALIDATION MACRO-F1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895350" y="2381250"/>
          <a:ext xmlns:a="http://schemas.openxmlformats.org/drawingml/2006/main" cx="59626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ee678e5e764ddb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AF849-1DE5-42A1-A827-3407EE34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334000"/>
            <a:ext cx="3048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6695F-00FE-4DF2-8E62-729ED2A1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102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D8DFF"/>
                </a:solidFill>
              </a:defRPr>
            </a:pPr>
            <a:r>
              <a:rPr sz="1125" b="1" i="0">
                <a:solidFill>
                  <a:srgbClr val="3D8DFF"/>
                </a:solidFill>
              </a:rPr>
              <a:t>+0.110 absolute Macro-F1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3F2A6-19A3-43A0-BE20-8096F633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47850"/>
            <a:ext cx="379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6BE1D-B3E9-432D-AB01-7B8709A0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57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470"/>
                </a:solidFill>
              </a:defRPr>
            </a:pPr>
            <a:r>
              <a:rPr sz="900" b="1" i="0">
                <a:solidFill>
                  <a:srgbClr val="5D6470"/>
                </a:solidFill>
              </a:rPr>
              <a:t>LOCKED TEST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8520B-892B-4736-8B8D-51ECD3E9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3D8DFF"/>
                </a:solidFill>
              </a:defRPr>
            </a:pPr>
            <a:r>
              <a:rPr sz="3900" b="1" i="0">
                <a:solidFill>
                  <a:srgbClr val="3D8DFF"/>
                </a:solidFill>
              </a:rPr>
              <a:t>0.548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B1F76-6F73-4BEC-BB02-6728F764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D6470"/>
                </a:solidFill>
              </a:defRPr>
            </a:pPr>
            <a:r>
              <a:rPr sz="1275" b="1" i="0">
                <a:solidFill>
                  <a:srgbClr val="5D6470"/>
                </a:solidFill>
              </a:rPr>
              <a:t>Macro-F1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1D8C8-F10F-45AC-842F-E8267307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93818-AAF1-494B-9FCD-B206A9D7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290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11318"/>
                </a:solidFill>
              </a:defRPr>
            </a:pPr>
            <a:r>
              <a:rPr sz="3900" b="1" i="0">
                <a:solidFill>
                  <a:srgbClr val="111318"/>
                </a:solidFill>
              </a:rPr>
              <a:t>0.624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15FE9-CF6C-40A3-AC82-6E067C3A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76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D6470"/>
                </a:solidFill>
              </a:defRPr>
            </a:pPr>
            <a:r>
              <a:rPr sz="1275" b="1" i="0">
                <a:solidFill>
                  <a:srgbClr val="5D6470"/>
                </a:solidFill>
              </a:rPr>
              <a:t>Micro-F1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B3D5B-109F-41E5-9776-2A7009CF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48250"/>
            <a:ext cx="3790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1C1FA-4B48-40F0-8306-D18831DA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0065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318"/>
                </a:solidFill>
              </a:defRPr>
            </a:pPr>
            <a:r>
              <a:rPr sz="1125" b="1" i="0">
                <a:solidFill>
                  <a:srgbClr val="111318"/>
                </a:solidFill>
              </a:rPr>
              <a:t>Validation and test scores are nearly identical, suggesting a stable baseline rather than validation overfitting.</a:t>
            </a:r>
          </a:p>
        </p:txBody>
      </p:sp>
    </p:spTree>
    <p:extLst>
      <p:ext uri="{BB962C8B-B14F-4D97-AF65-F5344CB8AC3E}">
        <p14:creationId xmlns:p14="http://schemas.microsoft.com/office/powerpoint/2010/main" val="1183879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2F8BE8-B0D9-4FEE-8A63-A9BBE832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</a:defRPr>
            </a:pPr>
            <a:r>
              <a:rPr sz="900" b="1" i="0">
                <a:solidFill>
                  <a:srgbClr val="3D8DFF"/>
                </a:solidFill>
              </a:rPr>
              <a:t>03.4 · EXACT-MATCH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96DB5-D83B-4D0A-A580-90BE0804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</a:defRPr>
            </a:pPr>
            <a:r>
              <a:rPr sz="2550" b="1" i="0">
                <a:solidFill>
                  <a:srgbClr val="111318"/>
                </a:solidFill>
              </a:rPr>
              <a:t>What does the semantic model get right?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A3B1D-55BC-4C9C-A164-0B65F265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3F151-347A-4E70-B3F6-C1D4E4FE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E0D3B-4EE4-4A64-A42B-7AC6C51E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470"/>
                </a:solidFill>
              </a:defRPr>
            </a:pPr>
            <a:r>
              <a:rPr sz="825" b="1" i="0">
                <a:solidFill>
                  <a:srgbClr val="5D6470"/>
                </a:solidFill>
              </a:rPr>
              <a:t>SECTION 03 · SENTENCE-BERT SEMANTIC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5878F-95A2-448D-B082-3AF0F3E3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D6470"/>
                </a:solidFill>
              </a:defRPr>
            </a:pPr>
            <a:r>
              <a:rPr sz="825" b="1" i="0">
                <a:solidFill>
                  <a:srgbClr val="5D6470"/>
                </a:solidFill>
              </a:rPr>
              <a:t>3.4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9C93E-1262-4AFB-85C2-ABFF0B37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43F9C-B3CD-4CB2-927D-E5FFC2D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56D"/>
                </a:solidFill>
              </a:defRPr>
            </a:pPr>
            <a:r>
              <a:rPr sz="900" b="1" i="0">
                <a:solidFill>
                  <a:srgbClr val="23856D"/>
                </a:solidFill>
              </a:rPr>
              <a:t>NEXT GOAL WINS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761FC-005F-4B99-92E8-466A0BC2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An underdog soccer team is transformed from perennial losers into winners.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9C298-203C-48C4-A3B7-D4606C92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470"/>
                </a:solidFill>
              </a:defRPr>
            </a:pPr>
            <a:r>
              <a:rPr sz="900" b="1" i="0">
                <a:solidFill>
                  <a:srgbClr val="5D6470"/>
                </a:solidFill>
              </a:rPr>
              <a:t>TRUE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19F19-A5B5-4185-B395-D24CBE1F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8763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56CD8-6C87-4E34-A76B-40687A5C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623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3856D"/>
                </a:solidFill>
              </a:defRPr>
            </a:pPr>
            <a:r>
              <a:rPr sz="975" b="1" i="0">
                <a:solidFill>
                  <a:srgbClr val="23856D"/>
                </a:solidFill>
              </a:rPr>
              <a:t>Comedy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AFE1F-90B6-49B8-BB65-63E805EB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95650"/>
            <a:ext cx="7810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4EC2F-18AF-4D77-93F9-E64569D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623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3856D"/>
                </a:solidFill>
              </a:defRPr>
            </a:pPr>
            <a:r>
              <a:rPr sz="975" b="1" i="0">
                <a:solidFill>
                  <a:srgbClr val="23856D"/>
                </a:solidFill>
              </a:rPr>
              <a:t>Drama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76FE7-93DB-441F-AE3F-FDD17876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470"/>
                </a:solidFill>
              </a:defRPr>
            </a:pPr>
            <a:r>
              <a:rPr sz="900" b="1" i="0">
                <a:solidFill>
                  <a:srgbClr val="5D6470"/>
                </a:solidFill>
              </a:rPr>
              <a:t>PREDICTED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2EFCF-74E9-41A0-83CC-0CF75917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90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318"/>
                </a:solidFill>
              </a:defRPr>
            </a:pPr>
            <a:r>
              <a:rPr sz="1350" b="1" i="0">
                <a:solidFill>
                  <a:srgbClr val="111318"/>
                </a:solidFill>
              </a:rPr>
              <a:t>Comedy · Drama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16CD1-72F3-4225-995C-7847AB7D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A5F77-8A63-4128-85BD-59DF3F34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3856D"/>
                </a:solidFill>
              </a:defRPr>
            </a:pPr>
            <a:r>
              <a:rPr sz="900" b="1" i="0">
                <a:solidFill>
                  <a:srgbClr val="23856D"/>
                </a:solidFill>
              </a:rPr>
              <a:t>WHY IT WORKS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EDB8D-9A13-49E5-801E-EA87CA4A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464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318"/>
                </a:solidFill>
              </a:defRPr>
            </a:pPr>
            <a:r>
              <a:rPr sz="1275" b="0" i="0">
                <a:solidFill>
                  <a:srgbClr val="111318"/>
                </a:solidFill>
              </a:rPr>
              <a:t>The model can use the full narrative trajectory—failure, transformation, and victory—even without explicit genre words.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C8497-DB91-42F5-8712-5B2298DB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5AF86-B871-4928-9BFC-D6D44E9B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57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</a:defRPr>
            </a:pPr>
            <a:r>
              <a:rPr sz="900" b="1" i="0">
                <a:solidFill>
                  <a:srgbClr val="3D8DFF"/>
                </a:solidFill>
              </a:rPr>
              <a:t>LABYRINTH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0B3D69-DDBC-4B5A-A7C8-6CDE40C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Sarah must solve a labyrinth within thirteen hours to rescue her brother.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EA84E5-FADA-4FA2-8F2C-562590D6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71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470"/>
                </a:solidFill>
              </a:defRPr>
            </a:pPr>
            <a:r>
              <a:rPr sz="900" b="1" i="0">
                <a:solidFill>
                  <a:srgbClr val="5D6470"/>
                </a:solidFill>
              </a:rPr>
              <a:t>TRUE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1896ED-6ABA-48A9-A027-AD024A5D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95650"/>
            <a:ext cx="1066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34C3F-ADD7-4803-98F8-BD9FBD39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623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D8DFF"/>
                </a:solidFill>
              </a:defRPr>
            </a:pPr>
            <a:r>
              <a:rPr sz="975" b="1" i="0">
                <a:solidFill>
                  <a:srgbClr val="3D8DFF"/>
                </a:solidFill>
              </a:rPr>
              <a:t>Adventure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04411D-1E55-4FCE-9E00-E5394CDB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838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97701F-D0B8-4A24-8E97-A261D961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6232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D8DFF"/>
                </a:solidFill>
              </a:defRPr>
            </a:pPr>
            <a:r>
              <a:rPr sz="975" b="1" i="0">
                <a:solidFill>
                  <a:srgbClr val="3D8DFF"/>
                </a:solidFill>
              </a:rPr>
              <a:t>Family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B2F4F2-8668-4522-8F7B-D834069E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95650"/>
            <a:ext cx="9144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968EC-8CFE-4726-A936-37C1A402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623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D8DFF"/>
                </a:solidFill>
              </a:defRPr>
            </a:pPr>
            <a:r>
              <a:rPr sz="975" b="1" i="0">
                <a:solidFill>
                  <a:srgbClr val="3D8DFF"/>
                </a:solidFill>
              </a:rPr>
              <a:t>Fantasy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3597B8-60EC-4E3A-8E98-D33F51C6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470"/>
                </a:solidFill>
              </a:defRPr>
            </a:pPr>
            <a:r>
              <a:rPr sz="900" b="1" i="0">
                <a:solidFill>
                  <a:srgbClr val="5D6470"/>
                </a:solidFill>
              </a:rPr>
              <a:t>PREDICTED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51DD8E-E7BC-49D2-8423-57EFD578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90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318"/>
                </a:solidFill>
              </a:defRPr>
            </a:pPr>
            <a:r>
              <a:rPr sz="1350" b="1" i="0">
                <a:solidFill>
                  <a:srgbClr val="111318"/>
                </a:solidFill>
              </a:rPr>
              <a:t>Adventure · Family · Fantasy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FC4ECD-9753-48E8-AC04-1EA47693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2435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57E537-A793-4437-B445-755B459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14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</a:defRPr>
            </a:pPr>
            <a:r>
              <a:rPr sz="900" b="1" i="0">
                <a:solidFill>
                  <a:srgbClr val="3D8DFF"/>
                </a:solidFill>
              </a:rPr>
              <a:t>WHY IT WORKS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F39051-ACF9-49E2-BBAE-101619BF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19650"/>
            <a:ext cx="464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318"/>
                </a:solidFill>
              </a:defRPr>
            </a:pPr>
            <a:r>
              <a:rPr sz="1275" b="0" i="0">
                <a:solidFill>
                  <a:srgbClr val="111318"/>
                </a:solidFill>
              </a:rPr>
              <a:t>Narrative structure and strong lexical cues point in the same direction, creating a coherent semantic signal.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AA50D4-7A8A-4400-8C04-53E3E2B6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44DEBA-F21C-4C67-817B-5B1F9FC7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Success is strongest when narrative meaning and genre cues reinforce each other.</a:t>
            </a:r>
          </a:p>
        </p:txBody>
      </p:sp>
    </p:spTree>
    <p:extLst>
      <p:ext uri="{BB962C8B-B14F-4D97-AF65-F5344CB8AC3E}">
        <p14:creationId xmlns:p14="http://schemas.microsoft.com/office/powerpoint/2010/main" val="929378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5C2CE3-5D83-40EA-9A8E-B9E11259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</a:defRPr>
            </a:pPr>
            <a:r>
              <a:rPr sz="900" b="1" i="0">
                <a:solidFill>
                  <a:srgbClr val="3D8DFF"/>
                </a:solidFill>
              </a:rPr>
              <a:t>03.5 · FAILURE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99370-297F-4B36-A024-A2F1A964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</a:defRPr>
            </a:pPr>
            <a:r>
              <a:rPr sz="2550" b="1" i="0">
                <a:solidFill>
                  <a:srgbClr val="111318"/>
                </a:solidFill>
              </a:rPr>
              <a:t>Semantic similarity is not the same as genre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49F82-9000-4DFF-AD8F-D6D40109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85718-23F8-4184-8796-289E38F1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CE500-A031-4D30-A8BC-500940E1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D6470"/>
                </a:solidFill>
              </a:defRPr>
            </a:pPr>
            <a:r>
              <a:rPr sz="825" b="1" i="0">
                <a:solidFill>
                  <a:srgbClr val="5D6470"/>
                </a:solidFill>
              </a:rPr>
              <a:t>SECTION 03 · SENTENCE-BERT SEMANTIC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B56E6-DD2F-4D91-9E69-ED819350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D6470"/>
                </a:solidFill>
              </a:defRPr>
            </a:pPr>
            <a:r>
              <a:rPr sz="825" b="1" i="0">
                <a:solidFill>
                  <a:srgbClr val="5D6470"/>
                </a:solidFill>
              </a:rPr>
              <a:t>3.5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C32B0-573A-4697-BC3E-E9FC2D29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1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25C48-E5A1-402A-BD9A-2A4342F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85A5A"/>
                </a:solidFill>
              </a:defRPr>
            </a:pPr>
            <a:r>
              <a:rPr sz="900" b="1" i="0">
                <a:solidFill>
                  <a:srgbClr val="D85A5A"/>
                </a:solidFill>
              </a:rPr>
              <a:t>TOPIC ≠ GENRE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60433-F09D-4895-A1D7-012B0AE8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History of the World: Part 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D20D6-4A81-4F30-9814-0EF13E40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Cues: Roman Empire, French Revolution, Spanish Inquisition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8C469-FFA3-4446-8158-4C781EFC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470"/>
                </a:solidFill>
              </a:defRPr>
            </a:pPr>
            <a:r>
              <a:rPr sz="900" b="1" i="0">
                <a:solidFill>
                  <a:srgbClr val="5D6470"/>
                </a:solidFill>
              </a:rPr>
              <a:t>True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BD68F-1B79-44B8-9C12-D6D197BF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85A5A"/>
                </a:solidFill>
              </a:defRPr>
            </a:pPr>
            <a:r>
              <a:rPr sz="1275" b="1" i="0">
                <a:solidFill>
                  <a:srgbClr val="D85A5A"/>
                </a:solidFill>
              </a:rPr>
              <a:t>Comedy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41594-E335-49F5-907D-919F24D2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470"/>
                </a:solidFill>
              </a:defRPr>
            </a:pPr>
            <a:r>
              <a:rPr sz="900" b="1" i="0">
                <a:solidFill>
                  <a:srgbClr val="5D6470"/>
                </a:solidFill>
              </a:rPr>
              <a:t>Predicted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B01E9-CBCE-4DBA-A397-C83AE1DF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Drama ·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E3ABC-EC75-4384-AABB-D55462E4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1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35AC1-291F-4A93-8838-F5DFEAE5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86A00"/>
                </a:solidFill>
              </a:defRPr>
            </a:pPr>
            <a:r>
              <a:rPr sz="900" b="1" i="0">
                <a:solidFill>
                  <a:srgbClr val="A86A00"/>
                </a:solidFill>
              </a:rPr>
              <a:t>EVENTS ≠ TONE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9E5E1-F05A-45E8-B0FD-2C023EB8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We're No Angels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B3DC4-73F9-4066-8AA5-5B5CCDD1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Cues: escaped convicts, police blockade, border crossing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86F25-E4E5-4DFC-AD2B-7661CD19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29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470"/>
                </a:solidFill>
              </a:defRPr>
            </a:pPr>
            <a:r>
              <a:rPr sz="900" b="1" i="0">
                <a:solidFill>
                  <a:srgbClr val="5D6470"/>
                </a:solidFill>
              </a:rPr>
              <a:t>True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5A328-0847-493A-B2D4-3C87298D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90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86A00"/>
                </a:solidFill>
              </a:defRPr>
            </a:pPr>
            <a:r>
              <a:rPr sz="1275" b="1" i="0">
                <a:solidFill>
                  <a:srgbClr val="A86A00"/>
                </a:solidFill>
              </a:rPr>
              <a:t>Comedy · Crime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52A14-E6F0-4B2E-A6FD-E628BDBB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4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470"/>
                </a:solidFill>
              </a:defRPr>
            </a:pPr>
            <a:r>
              <a:rPr sz="900" b="1" i="0">
                <a:solidFill>
                  <a:srgbClr val="5D6470"/>
                </a:solidFill>
              </a:rPr>
              <a:t>Predicted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53657-695E-45B2-821B-2A8FBF52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100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Action · Drama · Thriller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D0D34-95BA-4926-AF5D-B15BD62A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31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2B68C3-C161-4B07-A13E-B0BFC2E8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</a:defRPr>
            </a:pPr>
            <a:r>
              <a:rPr sz="900" b="1" i="0">
                <a:solidFill>
                  <a:srgbClr val="3D8DFF"/>
                </a:solidFill>
              </a:rPr>
              <a:t>MISSING CUES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F394B-CA1A-4BE3-90C6-4307D6DE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318"/>
                </a:solidFill>
              </a:defRPr>
            </a:pPr>
            <a:r>
              <a:rPr sz="1725" b="1" i="0">
                <a:solidFill>
                  <a:srgbClr val="111318"/>
                </a:solidFill>
              </a:rPr>
              <a:t>Brahms: The Boy II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4C37A0-920A-463B-A4B9-70084AE2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470"/>
                </a:solidFill>
              </a:defRPr>
            </a:pPr>
            <a:r>
              <a:rPr sz="1200" b="0" i="0">
                <a:solidFill>
                  <a:srgbClr val="5D6470"/>
                </a:solidFill>
              </a:rPr>
              <a:t>Cues: family, young son, friend, life-like doll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A81777-F99E-438D-B75A-DADB2975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470"/>
                </a:solidFill>
              </a:defRPr>
            </a:pPr>
            <a:r>
              <a:rPr sz="900" b="1" i="0">
                <a:solidFill>
                  <a:srgbClr val="5D6470"/>
                </a:solidFill>
              </a:rPr>
              <a:t>True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162C1-A1E9-4366-9A92-43883D40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909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</a:defRPr>
            </a:pPr>
            <a:r>
              <a:rPr sz="1200" b="1" i="0">
                <a:solidFill>
                  <a:srgbClr val="3D8DFF"/>
                </a:solidFill>
              </a:rPr>
              <a:t>Horror · Mystery · Thriller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33FE3D-5BC0-43F9-91AC-DFD97BCE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D6470"/>
                </a:solidFill>
              </a:defRPr>
            </a:pPr>
            <a:r>
              <a:rPr sz="900" b="1" i="0">
                <a:solidFill>
                  <a:srgbClr val="5D6470"/>
                </a:solidFill>
              </a:rPr>
              <a:t>Predicted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32C3BB-78EF-462C-85B8-53764BF2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1005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Comedy · Drama · Family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5BDCCB-B091-48A2-B09D-4CC66A0E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12F90C-E679-4575-BFFE-6EB0954E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</a:defRPr>
            </a:pPr>
            <a:r>
              <a:rPr sz="900" b="1" i="0">
                <a:solidFill>
                  <a:srgbClr val="3D8DFF"/>
                </a:solidFill>
              </a:rPr>
              <a:t>MECHANISM-LEVEL TAKEAWAY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C1CA33-CE22-47A5-99A9-7ED52366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318"/>
                </a:solidFill>
              </a:defRPr>
            </a:pPr>
            <a:r>
              <a:rPr sz="1350" b="1" i="0">
                <a:solidFill>
                  <a:srgbClr val="111318"/>
                </a:solidFill>
              </a:rPr>
              <a:t>SBERT captures what happens in the text more reliably than how the story is framed. The next step is to test this directly with word-order shuffling, keyword masking, and truncation.</a:t>
            </a:r>
          </a:p>
        </p:txBody>
      </p:sp>
    </p:spTree>
    <p:extLst>
      <p:ext uri="{BB962C8B-B14F-4D97-AF65-F5344CB8AC3E}">
        <p14:creationId xmlns:p14="http://schemas.microsoft.com/office/powerpoint/2010/main" val="1116906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2026-08-23T08:44:33.0550000Z</dcterms:created>
  <dcterms:modified xsi:type="dcterms:W3CDTF">2026-08-23T08:44:33.0550000Z</dcterms:modified>
</coreProperties>
</file>