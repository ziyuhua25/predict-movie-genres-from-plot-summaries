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946789d5b84e96" /><Relationship Type="http://schemas.openxmlformats.org/officeDocument/2006/relationships/extended-properties" Target="/docProps/app.xml" Id="R477cf6ce3d8c48e4" /><Relationship Type="http://schemas.openxmlformats.org/officeDocument/2006/relationships/officeDocument" Target="/ppt/presentation.xml" Id="R2a83a9987ffd4e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506ed39c024441"/>
  </p:sldMasterIdLst>
  <p:notesMasterIdLst>
    <p:notesMasterId xmlns:r="http://schemas.openxmlformats.org/officeDocument/2006/relationships" r:id="Rca88dca2cf98415c"/>
  </p:notesMasterIdLst>
  <p:sldIdLst>
    <p:sldId xmlns:r="http://schemas.openxmlformats.org/officeDocument/2006/relationships" id="256" r:id="Ra35ff4dce8ef4a12"/>
    <p:sldId xmlns:r="http://schemas.openxmlformats.org/officeDocument/2006/relationships" id="257" r:id="R8db6093bc5934638"/>
    <p:sldId xmlns:r="http://schemas.openxmlformats.org/officeDocument/2006/relationships" id="258" r:id="R3b204c4d0c754572"/>
    <p:sldId xmlns:r="http://schemas.openxmlformats.org/officeDocument/2006/relationships" id="259" r:id="R2d11c5970f6947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da9aed3ef74d01" /><Relationship Type="http://schemas.openxmlformats.org/officeDocument/2006/relationships/slideMaster" Target="/ppt/slideMasters/slideMaster1.xml" Id="R3c506ed39c024441" /><Relationship Type="http://schemas.openxmlformats.org/officeDocument/2006/relationships/notesMaster" Target="/ppt/notesMasters/notesMaster1.xml" Id="Rca88dca2cf98415c" /><Relationship Type="http://schemas.openxmlformats.org/officeDocument/2006/relationships/presProps" Target="/ppt/presProps.xml" Id="R213c1d26a1044c94" /><Relationship Type="http://schemas.openxmlformats.org/officeDocument/2006/relationships/tableStyles" Target="/ppt/tableStyles.xml" Id="Rcec716c615224482" /><Relationship Type="http://schemas.openxmlformats.org/officeDocument/2006/relationships/slide" Target="/ppt/slides/slide1.xml" Id="Ra35ff4dce8ef4a12" /><Relationship Type="http://schemas.openxmlformats.org/officeDocument/2006/relationships/slide" Target="/ppt/slides/slide2.xml" Id="R8db6093bc5934638" /><Relationship Type="http://schemas.openxmlformats.org/officeDocument/2006/relationships/slide" Target="/ppt/slides/slide3.xml" Id="R3b204c4d0c754572" /><Relationship Type="http://schemas.openxmlformats.org/officeDocument/2006/relationships/slide" Target="/ppt/slides/slide4.xml" Id="R2d11c5970f6947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c12252dcb848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162f5f3bf24cfe" /><Relationship Type="http://schemas.openxmlformats.org/officeDocument/2006/relationships/notesMaster" Target="/ppt/notesMasters/notesMaster1.xml" Id="Rb66597ae982a45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b6037a14e4b06" /><Relationship Type="http://schemas.openxmlformats.org/officeDocument/2006/relationships/notesMaster" Target="/ppt/notesMasters/notesMaster1.xml" Id="R579a347f58d348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fc851aa0014e70" /><Relationship Type="http://schemas.openxmlformats.org/officeDocument/2006/relationships/notesMaster" Target="/ppt/notesMasters/notesMaster1.xml" Id="R0bf4bca485534e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27ae6c9af04226" /><Relationship Type="http://schemas.openxmlformats.org/officeDocument/2006/relationships/notesMaster" Target="/ppt/notesMasters/notesMaster1.xml" Id="R724f22a7f56f4d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这部分是3号成员的独立模块，研究重点不是追求复杂模型，而是建立可复现的语义基线。</a:t>
            </a:r>
          </a:p>
          <a:p xmlns:a="http://schemas.openxmlformats.org/drawingml/2006/main">
            <a:r>
              <a:t>先报最重要结果：测试集 Macro-F1 为0.548，说明对18个类型平均而言具有中等且稳定的识别能力。</a:t>
            </a:r>
          </a:p>
          <a:p xmlns:a="http://schemas.openxmlformats.org/drawingml/2006/main">
            <a:r>
              <a:t>最后一句要保留：正式扰动实验尚未完成，因此目前不能声称模型已经被证明真正理解语义。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repository: origin/member3-sbert — research/notebooks/04_sbert_official_experiment.ipynb</a:t>
            </a:r>
          </a:p>
          <a:p xmlns:a="http://schemas.openxmlformats.org/drawingml/2006/main">
            <a:r>
              <a:t>- Team repository: origin/member3-sbert — research/notebooks/03_sbert_sanity_check.ipynb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这一页强调公平比较：数据划分和分类头固定，变化的核心只有文本表示。</a:t>
            </a:r>
          </a:p>
          <a:p xmlns:a="http://schemas.openxmlformats.org/drawingml/2006/main">
            <a:r>
              <a:t>Sentence-BERT 将每条剧情摘要压缩成384维向量，之后用可解释、训练成本低的 One-vs-Rest 逻辑回归做18类多标签分类。</a:t>
            </a:r>
          </a:p>
          <a:p xmlns:a="http://schemas.openxmlformats.org/drawingml/2006/main">
            <a:r>
              <a:t>阈值0.25是在验证集上选择的，再锁定用于测试集，避免用测试集调参。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repository: origin/member3-sbert — research/src/train_sbert.py</a:t>
            </a:r>
          </a:p>
          <a:p xmlns:a="http://schemas.openxmlformats.org/drawingml/2006/main">
            <a:r>
              <a:t>- Team repository: origin/member3-sbert — research/notebooks/04_sbert_official_experiment.ipynb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验证集和测试集几乎没有落差：Macro-F1从0.552变为0.548，Micro-F1保持在0.624，说明结果稳定，不像是验证集偶然性。</a:t>
            </a:r>
          </a:p>
          <a:p xmlns:a="http://schemas.openxmlformats.org/drawingml/2006/main">
            <a:r>
              <a:t>Micro-F1明显高于Macro-F1，意味着模型对样本较多的常见类型表现更好；长尾和少数类型拉低了平均类别表现。</a:t>
            </a:r>
          </a:p>
          <a:p xmlns:a="http://schemas.openxmlformats.org/drawingml/2006/main">
            <a:r>
              <a:t>本页只报告3号模型的绝对结果。与TF-IDF等模型的横向比较，应等总实验表齐全后再加入总PPT。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repository: origin/member3-sbert — research/notebooks/04_sbert_official_experiment.ipynb</a:t>
            </a:r>
          </a:p>
          <a:p xmlns:a="http://schemas.openxmlformats.org/drawingml/2006/main">
            <a:r>
              <a:t>- Artifact: sbert_original_predictions.csv — 21,564 rows, 8 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成功案例 Labyrinth 的预测与真实标签完全一致，说明完整情节结构能形成稳定语义信号。</a:t>
            </a:r>
          </a:p>
          <a:p xmlns:a="http://schemas.openxmlformats.org/drawingml/2006/main">
            <a:r>
              <a:t>失败案例 Brahms: The Boy II 被错误预测为喜剧、剧情和家庭，说明当摘要较抽象、显式类型词缺失时，语境共现可能把模型带偏。</a:t>
            </a:r>
          </a:p>
          <a:p xmlns:a="http://schemas.openxmlformats.org/drawingml/2006/main">
            <a:r>
              <a:t>因此最稳妥的结论是：SBERT提供稳定语义基线；下一阶段用词序打乱、关键词遮蔽和截断实验测试模型究竟依赖何种信息。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repository: origin/member3-sbert — research/notebooks/03_sbert_sanity_check.ipynb</a:t>
            </a:r>
          </a:p>
          <a:p xmlns:a="http://schemas.openxmlformats.org/drawingml/2006/main">
            <a:r>
              <a:t>- Team repository: origin/member3-sbert — research/notebooks/04_sbert_official_experiment.ipynb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68c4a91a344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f0747ac67a4367" /><Relationship Type="http://schemas.openxmlformats.org/officeDocument/2006/relationships/slideLayout" Target="/ppt/slideLayouts/slideLayout1.xml" Id="R1064133ef18f49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64133ef18f49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932fdde634b9c" /><Relationship Type="http://schemas.openxmlformats.org/officeDocument/2006/relationships/notesSlide" Target="/ppt/notesSlides/notesSlide1.xml" Id="Re4dfbc73efb246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2ebb5e59248bf" /><Relationship Type="http://schemas.openxmlformats.org/officeDocument/2006/relationships/notesSlide" Target="/ppt/notesSlides/notesSlide2.xml" Id="R9c5a431e917b43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7608105034be7" /><Relationship Type="http://schemas.openxmlformats.org/officeDocument/2006/relationships/chart" Target="/ppt/slides/charts/chart1.xml" Id="R43819fb816274094" /><Relationship Type="http://schemas.openxmlformats.org/officeDocument/2006/relationships/notesSlide" Target="/ppt/notesSlides/notesSlide3.xml" Id="Rce2adcd3325e45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15bcb30024c7c" /><Relationship Type="http://schemas.openxmlformats.org/officeDocument/2006/relationships/notesSlide" Target="/ppt/notesSlides/notesSlide4.xml" Id="R55a5417ac4464fd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Validation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2"/>
              <c:pt idx="0">
                <c:v>Macro-F1</c:v>
              </c:pt>
              <c:pt idx="1">
                <c:v>Micro-F1</c:v>
              </c:pt>
            </c:strLit>
          </c:cat>
          <c:val>
            <c:numLit>
              <c:formatCode>0.000</c:formatCode>
              <c:ptCount val="2"/>
              <c:pt idx="0">
                <c:v>0.551871</c:v>
              </c:pt>
              <c:pt idx="1">
                <c:v>0.624917</c:v>
              </c:pt>
            </c:numLit>
          </c:val>
        </c:ser>
        <c:ser>
          <c:idx val="1"/>
          <c:order val="1"/>
          <c:tx>
            <c:v>Test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Macro-F1</c:v>
              </c:pt>
              <c:pt idx="1">
                <c:v>Micro-F1</c:v>
              </c:pt>
            </c:strLit>
          </c:cat>
          <c:val>
            <c:numLit>
              <c:formatCode>0.000</c:formatCode>
              <c:ptCount val="2"/>
              <c:pt idx="0">
                <c:v>0.547637</c:v>
              </c:pt>
              <c:pt idx="1">
                <c:v>0.624384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31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3F5F7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D64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3F5F7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A632C-C3DB-4A8C-ABF3-A7741458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16FB7-C697-4141-87F0-DDB6D138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MOVIE GENRE CLASSIFICATION · WORKSTREAM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96214-938E-45AB-A8C9-194BC28A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318"/>
                </a:solidFill>
              </a:defRPr>
            </a:pPr>
            <a:r>
              <a:rPr sz="4500" b="1">
                <a:solidFill>
                  <a:srgbClr val="111318"/>
                </a:solidFill>
              </a:rPr>
              <a:t>Sentence-BERT</a:t>
            </a:r>
          </a:p>
          <a:p xmlns:a="http://schemas.openxmlformats.org/drawingml/2006/main">
            <a:pPr algn="l">
              <a:defRPr sz="4500" b="1">
                <a:solidFill>
                  <a:srgbClr val="111318"/>
                </a:solidFill>
              </a:defRPr>
            </a:pPr>
            <a:r>
              <a:rPr sz="4500" b="1">
                <a:solidFill>
                  <a:srgbClr val="111318"/>
                </a:solidFill>
              </a:rPr>
              <a:t>语义模型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5434F-0FC0-4001-BE60-3452730F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470"/>
                </a:solidFill>
              </a:defRPr>
            </a:pPr>
            <a:r>
              <a:rPr sz="1800" b="0">
                <a:solidFill>
                  <a:srgbClr val="5D6470"/>
                </a:solidFill>
              </a:rPr>
              <a:t>用 384 维句向量检验：</a:t>
            </a:r>
          </a:p>
          <a:p xmlns:a="http://schemas.openxmlformats.org/drawingml/2006/main">
            <a:pPr algn="l">
              <a:defRPr sz="1800" b="0">
                <a:solidFill>
                  <a:srgbClr val="5D6470"/>
                </a:solidFill>
              </a:defRPr>
            </a:pPr>
            <a:r>
              <a:rPr sz="1800" b="0">
                <a:solidFill>
                  <a:srgbClr val="5D6470"/>
                </a:solidFill>
              </a:rPr>
              <a:t>电影类型判断能否超越局部关键词，</a:t>
            </a:r>
          </a:p>
          <a:p xmlns:a="http://schemas.openxmlformats.org/drawingml/2006/main">
            <a:pPr algn="l">
              <a:defRPr sz="1800" b="0">
                <a:solidFill>
                  <a:srgbClr val="5D6470"/>
                </a:solidFill>
              </a:defRPr>
            </a:pPr>
            <a:r>
              <a:rPr sz="1800" b="0">
                <a:solidFill>
                  <a:srgbClr val="5D6470"/>
                </a:solidFill>
              </a:rPr>
              <a:t>捕捉剧情整体语义。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CD664-E04C-4186-81DC-BF36FC7F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00150"/>
            <a:ext cx="3333750" cy="33528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2F038-8562-4562-A155-FCA0CCB0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470"/>
                </a:solidFill>
              </a:defRPr>
            </a:pPr>
            <a:r>
              <a:rPr sz="1050" b="1">
                <a:solidFill>
                  <a:srgbClr val="5D6470"/>
                </a:solidFill>
              </a:rPr>
              <a:t>TEST MACRO-F1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DF3D7-5836-4781-80FA-406A51A7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</a:defRPr>
            </a:pPr>
            <a:r>
              <a:rPr sz="5400" b="1">
                <a:solidFill>
                  <a:srgbClr val="3D8DFF"/>
                </a:solidFill>
              </a:rPr>
              <a:t>0.548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0D88E-68B7-4CAF-8392-9DC9EBB1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77B24-B3D1-47FF-9B63-0897A8B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766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18 个类型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0075B-DB1F-424A-A7F1-17C47EB1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1,198 条测试样本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F759E-0359-4D4F-A7A8-CCA80BCB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0"/>
                </a:solidFill>
              </a:defRPr>
            </a:pPr>
            <a:r>
              <a:rPr sz="1125" b="0">
                <a:solidFill>
                  <a:srgbClr val="5D6470"/>
                </a:solidFill>
              </a:rPr>
              <a:t>MiniLM-L6-v2 + One-vs-Rest Logistic Regression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DD2FA-EFED-441D-BFD3-F0E792A5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核心问题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E2B34-E557-4093-9352-FA60169A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3400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98E96-F4F3-4167-9783-F239693A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语义表示带来稳定基线；但模型是否真正依赖语义，仍需扰动实验验证。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294D2-B82F-41FF-A9C4-EAAE4AB6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9DAD8-6280-414C-9FD9-B9E6270B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</a:defRPr>
            </a:pPr>
            <a:r>
              <a:rPr sz="825" b="1">
                <a:solidFill>
                  <a:srgbClr val="5D6470"/>
                </a:solidFill>
              </a:rPr>
              <a:t>WORKSTREAM 3 · SENTENCE-BERT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0C0BE-E241-4EAD-B97B-16467A23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470"/>
                </a:solidFill>
              </a:defRPr>
            </a:pPr>
            <a:r>
              <a:rPr sz="825" b="1">
                <a:solidFill>
                  <a:srgbClr val="5D647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5174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B005AE-1DE3-4F79-8727-300871C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METHOD · CONTROLLED SEMANTIC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FEB6D-7A78-497B-AA66-180FE835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</a:defRPr>
            </a:pPr>
            <a:r>
              <a:rPr sz="2700" b="1">
                <a:solidFill>
                  <a:srgbClr val="111318"/>
                </a:solidFill>
              </a:rPr>
              <a:t>统一数据与分类头，使语义表示成为公平对照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64AD1-5E70-431B-A8A7-3F5AE413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32791-4499-4A11-9948-F3A730C0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98913-9874-4834-A716-1BD6663B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</a:defRPr>
            </a:pPr>
            <a:r>
              <a:rPr sz="825" b="1">
                <a:solidFill>
                  <a:srgbClr val="5D6470"/>
                </a:solidFill>
              </a:rPr>
              <a:t>WORKSTREAM 3 · SENTENCE-BERT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7371B-84BA-4FBC-9EA3-9B4D39E0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470"/>
                </a:solidFill>
              </a:defRPr>
            </a:pPr>
            <a:r>
              <a:rPr sz="825" b="1">
                <a:solidFill>
                  <a:srgbClr val="5D6470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8D7DF-2D4B-45CA-AE99-A2320064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7813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7FF43-5360-43B4-A2E9-3A7EED10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537C4-2EDF-4E2B-93C8-1B13F81C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</a:defRPr>
            </a:pPr>
            <a:r>
              <a:rPr sz="2100" b="1">
                <a:solidFill>
                  <a:srgbClr val="111318"/>
                </a:solidFill>
              </a:rPr>
              <a:t>剧情摘要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15CC7-B662-48EF-AEB3-1B9F2F9B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</a:defRPr>
            </a:pPr>
            <a:r>
              <a:rPr sz="1425" b="0">
                <a:solidFill>
                  <a:srgbClr val="5D6470"/>
                </a:solidFill>
              </a:rPr>
              <a:t>清理空白与缺失值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</a:defRPr>
            </a:pPr>
            <a:r>
              <a:rPr sz="1425" b="0">
                <a:solidFill>
                  <a:srgbClr val="5D6470"/>
                </a:solidFill>
              </a:rPr>
              <a:t>保留完整语义信息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71EC4-E060-42E6-BA1E-3C49703C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27813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8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1E403-3361-491A-957D-4491B5D0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A7C08-948B-4FB7-949E-C580A482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670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</a:defRPr>
            </a:pPr>
            <a:r>
              <a:rPr sz="2100" b="1">
                <a:solidFill>
                  <a:srgbClr val="111318"/>
                </a:solidFill>
              </a:rPr>
              <a:t>Sentence-BERT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07A64-C4E9-49B5-8ED7-F9D5AC9E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57550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</a:defRPr>
            </a:pPr>
            <a:r>
              <a:rPr sz="1425" b="0">
                <a:solidFill>
                  <a:srgbClr val="5D6470"/>
                </a:solidFill>
              </a:rPr>
              <a:t>all-MiniLM-L6-v2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</a:defRPr>
            </a:pPr>
            <a:r>
              <a:rPr sz="1425" b="0">
                <a:solidFill>
                  <a:srgbClr val="5D6470"/>
                </a:solidFill>
              </a:rPr>
              <a:t>输出 384 维句向量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DFE65-ACB6-4E4F-BC5A-8C73D41F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52625"/>
            <a:ext cx="27813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4F3C0-C8E1-4441-AC28-DAFECAFE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52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EE0B7-DABD-4393-895C-DB817CCD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</a:defRPr>
            </a:pPr>
            <a:r>
              <a:rPr sz="2100" b="1">
                <a:solidFill>
                  <a:srgbClr val="111318"/>
                </a:solidFill>
              </a:rPr>
              <a:t>多标签分类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EE87C-7FD0-4388-9AD1-D8DCE073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</a:defRPr>
            </a:pPr>
            <a:r>
              <a:rPr sz="1425" b="0">
                <a:solidFill>
                  <a:srgbClr val="5D6470"/>
                </a:solidFill>
              </a:rPr>
              <a:t>One-vs-Rest LR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</a:defRPr>
            </a:pPr>
            <a:r>
              <a:rPr sz="1425" b="0">
                <a:solidFill>
                  <a:srgbClr val="5D6470"/>
                </a:solidFill>
              </a:rPr>
              <a:t>全局阈值 = 0.25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3A90E-9EB8-4B4A-8557-7335A075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194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1ACDA-98AF-4EAC-BD20-D3FFCAA3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6227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B59B2-880B-4A29-A8F3-ABEF70B0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194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B787F-A2F3-4340-B0E1-25BBC492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6227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EEEA6-54E8-4315-A1A5-A67A8863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实验控制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AC5EF4-AE73-412C-959A-B513CBCD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24383-9E6C-4325-A045-022028EF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</a:defRPr>
            </a:pPr>
            <a:r>
              <a:rPr sz="2250" b="1">
                <a:solidFill>
                  <a:srgbClr val="111318"/>
                </a:solidFill>
              </a:rPr>
              <a:t>5,594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6A6E03-6B56-4483-9ED1-393AC197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0"/>
                </a:solidFill>
              </a:defRPr>
            </a:pPr>
            <a:r>
              <a:rPr sz="1125" b="0">
                <a:solidFill>
                  <a:srgbClr val="5D6470"/>
                </a:solidFill>
              </a:rPr>
              <a:t>训练集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928FF-97AB-43B5-AED3-768A189D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625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</a:defRPr>
            </a:pPr>
            <a:r>
              <a:rPr sz="2250" b="1">
                <a:solidFill>
                  <a:srgbClr val="111318"/>
                </a:solidFill>
              </a:rPr>
              <a:t>1,199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C342B-6830-4B69-AEB1-747B822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9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0"/>
                </a:solidFill>
              </a:defRPr>
            </a:pPr>
            <a:r>
              <a:rPr sz="1125" b="0">
                <a:solidFill>
                  <a:srgbClr val="5D6470"/>
                </a:solidFill>
              </a:rPr>
              <a:t>验证集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1BE14C-6F01-4E05-B846-2BA80DBD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625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</a:defRPr>
            </a:pPr>
            <a:r>
              <a:rPr sz="2250" b="1">
                <a:solidFill>
                  <a:srgbClr val="111318"/>
                </a:solidFill>
              </a:rPr>
              <a:t>1,198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9321C5-BBFE-461B-93A0-A250BDEE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19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0"/>
                </a:solidFill>
              </a:defRPr>
            </a:pPr>
            <a:r>
              <a:rPr sz="1125" b="0">
                <a:solidFill>
                  <a:srgbClr val="5D6470"/>
                </a:solidFill>
              </a:rPr>
              <a:t>测试集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8907E8-D956-45B9-88B2-C50330F9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625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716EAA-E73E-4775-9C07-22A2837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19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0"/>
                </a:solidFill>
              </a:defRPr>
            </a:pPr>
            <a:r>
              <a:rPr sz="1125" b="0">
                <a:solidFill>
                  <a:srgbClr val="5D6470"/>
                </a:solidFill>
              </a:rPr>
              <a:t>电影类型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E235DD-5ED8-4898-ADED-DACD1EFA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625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</a:defRPr>
            </a:pPr>
            <a:r>
              <a:rPr sz="2250" b="1">
                <a:solidFill>
                  <a:srgbClr val="111318"/>
                </a:solidFill>
              </a:rPr>
              <a:t>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0E0E9E-F1A4-4BB7-85F5-9A5D6A2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0"/>
                </a:solidFill>
              </a:defRPr>
            </a:pPr>
            <a:r>
              <a:rPr sz="1125" b="0">
                <a:solidFill>
                  <a:srgbClr val="5D6470"/>
                </a:solidFill>
              </a:rPr>
              <a:t>随机种子</a:t>
            </a:r>
          </a:p>
        </p:txBody>
      </p:sp>
    </p:spTree>
    <p:extLst>
      <p:ext uri="{BB962C8B-B14F-4D97-AF65-F5344CB8AC3E}">
        <p14:creationId xmlns:p14="http://schemas.microsoft.com/office/powerpoint/2010/main" val="1838957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22251-A7DB-4C92-BAED-54EC5332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RESULTS · VALIDATION VERSUS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29CB0-4ED0-4C12-9106-DE182BE8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</a:defRPr>
            </a:pPr>
            <a:r>
              <a:rPr sz="2700" b="1">
                <a:solidFill>
                  <a:srgbClr val="111318"/>
                </a:solidFill>
              </a:rPr>
              <a:t>SBERT 在未见测试集上保持约 0.55 Macro-F1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A29DF-0DEC-47C7-914A-36555D84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7BC2B-BA74-46EA-A713-1D469AD1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099A4-FA3A-45BE-8572-6D55096A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</a:defRPr>
            </a:pPr>
            <a:r>
              <a:rPr sz="825" b="1">
                <a:solidFill>
                  <a:srgbClr val="5D6470"/>
                </a:solidFill>
              </a:rPr>
              <a:t>WORKSTREAM 3 · SENTENCE-BERT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82E0C-82F9-44F3-9317-2237AA2B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470"/>
                </a:solidFill>
              </a:defRPr>
            </a:pPr>
            <a:r>
              <a:rPr sz="825" b="1">
                <a:solidFill>
                  <a:srgbClr val="5D6470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A041D-1D94-4E1D-82B1-CD2E63F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389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17FC0-06F1-43CB-A765-2AD9D094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F1 SCORE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857250" y="2305050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819fb81627409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4805F-C37B-4EA2-BD99-1399DF77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76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37934-B134-4E74-B35E-DC0AAE49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81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TEST MACRO-F1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7CCEB-3855-4690-BB30-E1E5EF8C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0.548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FA187-CAB5-4612-BE2C-EDF21523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A9C1A-AC47-4F9E-BA62-C94F4DE8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TEST MICRO-F1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AD63D-4870-4097-9B27-B3FEB356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8"/>
                </a:solidFill>
              </a:defRPr>
            </a:pPr>
            <a:r>
              <a:rPr sz="3300" b="1">
                <a:solidFill>
                  <a:srgbClr val="111318"/>
                </a:solidFill>
              </a:rPr>
              <a:t>0.624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DCC3B-6490-409C-8F80-AF2C7A60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57B2C-9F57-4A99-9B87-A24F35B8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95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SELECTED THRESHOLD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A3D57-34FB-46A3-B0BA-85F84251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8"/>
                </a:solidFill>
              </a:defRPr>
            </a:pPr>
            <a:r>
              <a:rPr sz="3300" b="1">
                <a:solidFill>
                  <a:srgbClr val="111318"/>
                </a:solidFill>
              </a:rPr>
              <a:t>0.25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4F805-56AD-41D0-9B85-711959BC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62600"/>
            <a:ext cx="3676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87C9F-31AF-4EA2-9FBE-76054EB9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Micro &gt; Macro：常见类型更易识别，稀有类型仍是主要短板。</a:t>
            </a:r>
          </a:p>
        </p:txBody>
      </p:sp>
    </p:spTree>
    <p:extLst>
      <p:ext uri="{BB962C8B-B14F-4D97-AF65-F5344CB8AC3E}">
        <p14:creationId xmlns:p14="http://schemas.microsoft.com/office/powerpoint/2010/main" val="1482167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E0D49C-098E-4755-AA4D-B5650DEB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QUALITATIVE EVIDENCE · SUCCESS AND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11550-F093-4976-AF8D-06128D0A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</a:defRPr>
            </a:pPr>
            <a:r>
              <a:rPr sz="2700" b="1">
                <a:solidFill>
                  <a:srgbClr val="111318"/>
                </a:solidFill>
              </a:rPr>
              <a:t>语义线索能识别完整情节模式，但含蓄摘要仍会误导模型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53BBC-EB7B-4BD6-BE26-7C90A18B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C7686-61E8-4F96-9D11-BAC59DE2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7B77E-2C2B-4150-A12E-90A4B5D2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</a:defRPr>
            </a:pPr>
            <a:r>
              <a:rPr sz="825" b="1">
                <a:solidFill>
                  <a:srgbClr val="5D6470"/>
                </a:solidFill>
              </a:rPr>
              <a:t>WORKSTREAM 3 · SENTENCE-BERT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23683-B7E0-4BE9-9C22-BB2B93F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470"/>
                </a:solidFill>
              </a:defRPr>
            </a:pPr>
            <a:r>
              <a:rPr sz="825" b="1">
                <a:solidFill>
                  <a:srgbClr val="5D6470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D29E7-8F46-4A9F-95DF-8C99AF95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同一模型的成功与失败案例，揭示它学到了什么，也暴露下一步需要验证的机理。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C0611-EAC8-4635-BF57-DE19A262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7E114-DD6F-415A-AED3-19DBF70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856D"/>
                </a:solidFill>
              </a:defRPr>
            </a:pPr>
            <a:r>
              <a:rPr sz="900" b="1">
                <a:solidFill>
                  <a:srgbClr val="23856D"/>
                </a:solidFill>
              </a:rPr>
              <a:t>EXACT 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83782-F427-4489-BB92-0B7021B2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</a:defRPr>
            </a:pPr>
            <a:r>
              <a:rPr sz="2250" b="1">
                <a:solidFill>
                  <a:srgbClr val="111318"/>
                </a:solidFill>
              </a:rPr>
              <a:t>Labyrinth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F9D7A-07C1-45A5-BEDD-D4340BF6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真实标签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C642E-8515-49AA-AD45-003A52AC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1066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C1754-00CF-4FA7-9D7E-FCED8CF9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861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856D"/>
                </a:solidFill>
              </a:defRPr>
            </a:pPr>
            <a:r>
              <a:rPr sz="975" b="1">
                <a:solidFill>
                  <a:srgbClr val="23856D"/>
                </a:solidFill>
              </a:rPr>
              <a:t>Adventure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0694C-B6D9-47E8-A6AE-7BFCC1DA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838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A13B2-DA25-4047-9939-D01193A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8612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856D"/>
                </a:solidFill>
              </a:defRPr>
            </a:pPr>
            <a:r>
              <a:rPr sz="975" b="1">
                <a:solidFill>
                  <a:srgbClr val="23856D"/>
                </a:solidFill>
              </a:rPr>
              <a:t>Family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D8003-D8A4-44EB-8EE2-1F1FEB08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9144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C82FC-0BD7-4BC8-8DC7-B6B7379B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861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856D"/>
                </a:solidFill>
              </a:defRPr>
            </a:pPr>
            <a:r>
              <a:rPr sz="975" b="1">
                <a:solidFill>
                  <a:srgbClr val="23856D"/>
                </a:solidFill>
              </a:rPr>
              <a:t>Fantasy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F4337-8282-4B32-9B57-3A09B98D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模型预测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F8E31-D1C9-413D-AC69-32B5494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Adventure · Family · Fantasy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CBCF2-56C7-4AB3-993B-9B8F247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143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59729-CCF0-46C7-A57F-09CDFEF0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856D"/>
                </a:solidFill>
              </a:defRPr>
            </a:pPr>
            <a:r>
              <a:rPr sz="1125" b="1">
                <a:solidFill>
                  <a:srgbClr val="23856D"/>
                </a:solidFill>
              </a:rPr>
              <a:t>为何成功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70A97-2D7F-4342-BE00-90CDA678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64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营救任务、奇幻世界与家庭关系构成一致的整体语义模式。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9719E-81FA-41D9-B7E4-1DC0ED2E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E0613-B154-46C5-B81F-DFA9878A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5A5A"/>
                </a:solidFill>
              </a:defRPr>
            </a:pPr>
            <a:r>
              <a:rPr sz="900" b="1">
                <a:solidFill>
                  <a:srgbClr val="D85A5A"/>
                </a:solidFill>
              </a:rPr>
              <a:t>FAILURE CASE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7D1FEE-3F5E-4EF8-B4F3-78E26227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</a:defRPr>
            </a:pPr>
            <a:r>
              <a:rPr sz="2250" b="1">
                <a:solidFill>
                  <a:srgbClr val="111318"/>
                </a:solidFill>
              </a:rPr>
              <a:t>Brahms: The Boy II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7B6F4-D029-4620-AE1E-0105311E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真实标签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8F9FFC-5352-4CD3-A668-3FCFDBEE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5A5A"/>
                </a:solidFill>
              </a:defRPr>
            </a:pPr>
            <a:r>
              <a:rPr sz="1200" b="1">
                <a:solidFill>
                  <a:srgbClr val="D85A5A"/>
                </a:solidFill>
              </a:rPr>
              <a:t>Horror · Mystery · Thriller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4F0677-614B-411E-9987-22C1C4C1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模型预测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459BB1-9A98-46DB-931F-8030BE6F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14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Comedy · Drama · Family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F1078E-75AE-417D-A0BD-BD2FED43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5143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527FD3-04FC-4BC5-9849-C85E6F45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5A5A"/>
                </a:solidFill>
              </a:defRPr>
            </a:pPr>
            <a:r>
              <a:rPr sz="1125" b="1">
                <a:solidFill>
                  <a:srgbClr val="D85A5A"/>
                </a:solidFill>
              </a:rPr>
              <a:t>为何失败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51EA6C-1B9B-40EF-A9AB-0C7F9FF7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43450"/>
            <a:ext cx="464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摘要中的恐怖线索不够显式，模型可能过度依赖“家庭”语境。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CE3939-0D8A-42AA-9057-8692E834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8DD3C2-6EA8-45D3-A213-94C4BDAC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053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当前结论：SBERT 是稳定语义基线；词序打乱、关键词遮蔽与截断实验仍是验证底层机理的下一步。</a:t>
            </a:r>
          </a:p>
        </p:txBody>
      </p:sp>
    </p:spTree>
    <p:extLst>
      <p:ext uri="{BB962C8B-B14F-4D97-AF65-F5344CB8AC3E}">
        <p14:creationId xmlns:p14="http://schemas.microsoft.com/office/powerpoint/2010/main" val="895177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2026-08-23T07:50:42.6470000Z</dcterms:created>
  <dcterms:modified xsi:type="dcterms:W3CDTF">2026-08-23T07:50:42.6470000Z</dcterms:modified>
</coreProperties>
</file>